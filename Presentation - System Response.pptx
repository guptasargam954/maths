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K Grotesk Semi-Bold" charset="1" panose="00000700000000000000"/>
      <p:regular r:id="rId15"/>
    </p:embeddedFont>
    <p:embeddedFont>
      <p:font typeface="HK Grotesk" charset="1" panose="00000500000000000000"/>
      <p:regular r:id="rId16"/>
    </p:embeddedFont>
    <p:embeddedFont>
      <p:font typeface="Noto Serif Display ExtraCondensed Light" charset="1" panose="02020406080505020204"/>
      <p:regular r:id="rId17"/>
    </p:embeddedFont>
    <p:embeddedFont>
      <p:font typeface="HK Grotesk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10287000"/>
            <a:chOff x="0" y="0"/>
            <a:chExt cx="139303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97" r="0" b="-59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1638300"/>
            <a:ext cx="6886575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</a:pPr>
            <a:r>
              <a:rPr lang="en-US" b="true" sz="3899" u="none">
                <a:solidFill>
                  <a:srgbClr val="A1CA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Systems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4469130"/>
            <a:ext cx="6886575" cy="5093970"/>
            <a:chOff x="0" y="0"/>
            <a:chExt cx="9182100" cy="67919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623316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D9E8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Presented by [Your Name], [Your Affiliation]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66700"/>
              <a:ext cx="9182100" cy="5097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400"/>
                </a:lnSpc>
              </a:pPr>
              <a:r>
                <a:rPr lang="en-US" sz="14400" spc="-288">
                  <a:solidFill>
                    <a:srgbClr val="D9E8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System Response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cap="flat" w="19050">
            <a:solidFill>
              <a:srgbClr val="D9E8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D9E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D9E8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66750" y="1562100"/>
            <a:ext cx="6886575" cy="2362200"/>
            <a:chOff x="0" y="0"/>
            <a:chExt cx="9182100" cy="31496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80975"/>
              <a:ext cx="91821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9E8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Introduction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5908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A1CA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Importance of the Particular Integral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84718" y="4800600"/>
            <a:ext cx="1567201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The Big Picture: In linear systems, the total response is the sum of the Natural Response (C.F.) and the Forced Response (P.I.).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4718" y="6180534"/>
            <a:ext cx="756545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Linear Non‑homogeneous ODE: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 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aₙ dⁿy/dxⁿ + … + a₁ dy/dx + a₀ y = 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4718" y="7561659"/>
            <a:ext cx="1592803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Where $X = x^n$ (a polynomial input like a constant, ramp, or parabolic signal).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What is P.I.? It is the specific solution that satisfies the equation when the right-hand side is non-zero.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D9E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D9E8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382602" y="5619750"/>
            <a:ext cx="4010025" cy="2981325"/>
            <a:chOff x="0" y="0"/>
            <a:chExt cx="5346700" cy="39751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5346700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96"/>
                </a:lnSpc>
                <a:spcBef>
                  <a:spcPct val="0"/>
                </a:spcBef>
              </a:pPr>
              <a:r>
                <a:rPr lang="en-US" b="true" sz="2747" strike="noStrike" u="none">
                  <a:solidFill>
                    <a:srgbClr val="A1CA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Differential Operator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222375"/>
              <a:ext cx="5346700" cy="2752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5"/>
                </a:lnSpc>
                <a:spcBef>
                  <a:spcPct val="0"/>
                </a:spcBef>
              </a:pPr>
              <a:r>
                <a:rPr lang="en-US" sz="2279">
                  <a:solidFill>
                    <a:srgbClr val="D9E8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operator D = d/dx changes a function so it can be solved more easily. Using D², D³, and higher powers keeps applying this change to move toward the solution.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5619750"/>
            <a:ext cx="4010025" cy="3352800"/>
            <a:chOff x="0" y="0"/>
            <a:chExt cx="5346700" cy="44704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5346700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96"/>
                </a:lnSpc>
                <a:spcBef>
                  <a:spcPct val="0"/>
                </a:spcBef>
              </a:pPr>
              <a:r>
                <a:rPr lang="en-US" b="true" sz="2747" strike="noStrike" u="none">
                  <a:solidFill>
                    <a:srgbClr val="A1CA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Equation Representation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260475"/>
              <a:ext cx="5346700" cy="320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5"/>
                </a:lnSpc>
                <a:spcBef>
                  <a:spcPct val="0"/>
                </a:spcBef>
              </a:pPr>
              <a:r>
                <a:rPr lang="en-US" sz="2279" strike="noStrike" u="none">
                  <a:solidFill>
                    <a:srgbClr val="D9E8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By expressing the differential equation in the form (f(D) y = x^n), we can utilize the operator notation to systematically derive the particular integral and analyze system responses effectively.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628156" y="5648325"/>
            <a:ext cx="4010025" cy="3324225"/>
            <a:chOff x="0" y="0"/>
            <a:chExt cx="5346700" cy="443230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96"/>
                </a:lnSpc>
                <a:spcBef>
                  <a:spcPct val="0"/>
                </a:spcBef>
              </a:pPr>
              <a:r>
                <a:rPr lang="en-US" b="true" sz="2747" strike="noStrike" u="none">
                  <a:solidFill>
                    <a:srgbClr val="A1CA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Inverse Operator Concept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222375"/>
              <a:ext cx="5346700" cy="320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5"/>
                </a:lnSpc>
                <a:spcBef>
                  <a:spcPct val="0"/>
                </a:spcBef>
              </a:pPr>
              <a:r>
                <a:rPr lang="en-US" sz="2279">
                  <a:solidFill>
                    <a:srgbClr val="D9E8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particular integral can be written as yₚ = (1 / f(D)) xⁿ</a:t>
              </a:r>
              <a:r>
                <a:rPr lang="en-US" sz="2279" strike="noStrike" u="none">
                  <a:solidFill>
                    <a:srgbClr val="D9E8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allowing us to apply inverse operators, which simplify the calculation process by addressing polynomial input transformations.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6750" y="1562100"/>
            <a:ext cx="16954500" cy="2200275"/>
            <a:chOff x="0" y="0"/>
            <a:chExt cx="22606000" cy="293370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9E8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Operator Form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387600"/>
              <a:ext cx="22606000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96"/>
                </a:lnSpc>
              </a:pPr>
              <a:r>
                <a:rPr lang="en-US" b="true" sz="2747" strike="noStrike" u="none">
                  <a:solidFill>
                    <a:srgbClr val="A1CA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Understanding Inverse Operators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82602" y="4181475"/>
            <a:ext cx="1491992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If D represents differentiation, D y = dy/dx, then 1/D represents its inverse: integration, while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yₚ = (1 / f(D)) xⁿ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6886575" cy="2343150"/>
            <a:chOff x="0" y="0"/>
            <a:chExt cx="9182100" cy="3124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A1CA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Binomial Expansion 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93800"/>
              <a:ext cx="9182100" cy="193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>
                  <a:solidFill>
                    <a:srgbClr val="D9E8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Using the series (1 + D)⁻¹ = 1 − D + D² − D³ + … </a:t>
              </a:r>
              <a:r>
                <a:rPr lang="en-US" sz="2400" strike="noStrike" u="none">
                  <a:solidFill>
                    <a:srgbClr val="D9E8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allows us to invert the operator efficiently, enabling us to handle polynomial inputs through series terms.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038850"/>
            <a:ext cx="6886575" cy="1981200"/>
            <a:chOff x="0" y="0"/>
            <a:chExt cx="9182100" cy="26416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A1CA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Binomial Expansion 2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144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>
                  <a:solidFill>
                    <a:srgbClr val="D9E8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Similarly, (1 − D)⁻¹ = 1 + D + D² + D³ + … helps us work out inverse operators and find the needed expressions for different polynomial degrees.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9E8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The Binomial Expansion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A1CA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Key Tools for Inverse Operators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D9E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D9E8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D9E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D9E8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172950" y="4113554"/>
            <a:ext cx="4010025" cy="3048000"/>
            <a:chOff x="0" y="0"/>
            <a:chExt cx="5346700" cy="40640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A1CA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Factor Lowest Term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244600"/>
              <a:ext cx="5346700" cy="281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9E8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 normalize the first term to 1, factor out the lowest power of (D) from the operator, ensuring that the expression is simplified for effective calculations.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9E8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Step-by-Step Algorithm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A1CA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Practical Procedure for Finding P.I.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4648200"/>
            <a:ext cx="8730635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Standardize: Write the equation in operator form as f(D) y = xⁿ.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Isolate 1 / f(D): Express yₚ = (1 / f(D)) xⁿ.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Factor Out: Take the lowest power of D outside so the first term becomes 1.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Expand: Apply the binomial series.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Operate: Multiply xⁿ into the bracket and differentiate each term.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Simplify: Collect all terms for the final result.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3581400"/>
            <a:chOff x="0" y="0"/>
            <a:chExt cx="9182100" cy="4775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9182100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9E8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Worked Example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2164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A1CA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Calculation of Particular Integral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D9E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D9E8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296400" y="6400800"/>
            <a:ext cx="6886575" cy="1981200"/>
            <a:chOff x="0" y="0"/>
            <a:chExt cx="9182100" cy="26416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A1CA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Final P.I.: ( y_p 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3800"/>
              <a:ext cx="9182100" cy="144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9E8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 this example, we apply the operator method to find the </a:t>
              </a:r>
              <a:r>
                <a:rPr lang="en-US" b="true" sz="2400" strike="noStrike" u="none">
                  <a:solidFill>
                    <a:srgbClr val="D9E8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Particular Integral</a:t>
              </a:r>
              <a:r>
                <a:rPr lang="en-US" sz="2400" strike="noStrike" u="none">
                  <a:solidFill>
                    <a:srgbClr val="D9E8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for the equation ((D^2 + 2D + 1) y = x^2), resulting in (y_p = x^2 - 4x + 6).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16954500" cy="3048000"/>
            <a:chOff x="0" y="0"/>
            <a:chExt cx="22606000" cy="40640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9E8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Special Case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387600"/>
              <a:ext cx="22606000" cy="167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A1CA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What if the lowest degree term is not a constant?</a:t>
              </a:r>
            </a:p>
            <a:p>
              <a:pPr algn="l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A1CA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If f(D) = D^2 + 3D, the lowest term is 3D.</a:t>
              </a:r>
            </a:p>
            <a:p>
              <a:pPr algn="l" marL="0" indent="0" lvl="0">
                <a:lnSpc>
                  <a:spcPts val="33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D9E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D9E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4867364"/>
            <a:ext cx="8561388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Identify the Lowest Power: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Take out the smallest power of D.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For (D² + 4D)y = xⁿ, factor out 4D.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381839"/>
            <a:ext cx="8561388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Modified Operator Form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Write as: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yₚ = (1 / Dᵏ(1 + φ(D))) · xⁿ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Here, k is the smallest power of D in the given expression.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79263" y="5124539"/>
            <a:ext cx="8780037" cy="335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Procedure: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Expand → Integrate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Expand (1 + φ(D))⁻¹ as a series.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Apply each term to xⁿ series to get a new polynomial.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Then apply 1/Dᵏ: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1/D = ∫ dx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1/D² = ∫∫ dx²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1/Dᵏ = k repeated integrals.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4800" y="1562189"/>
            <a:ext cx="16954500" cy="2209800"/>
            <a:chOff x="0" y="0"/>
            <a:chExt cx="22606000" cy="2946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9E8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Applications in Engineering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A1CA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This method isn't just math—it’s how engineers predict system behavior.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D9E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D9E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304800" y="4648289"/>
            <a:ext cx="15624917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Steady-State Error Analysis: In Control Systems, polynomial inputs represent Step (x^0), Ramp ($x^1$), or Parabolic ($x^2$) signals. The P.I. tells us exactly how much the system will lag behind the command.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Structural Mechanics: Used to find the deflection of beams under distributed loads (where the load is represented by a polynomial function of the distance).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Electrical Circuits: Analyzing the response of RLC circuits when the voltage source is increasing linearly (ramp) or quadratically over time.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Kinematics: Predicting the position of a particle when the acceleration is a function of time (a = t^n).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161586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861" cy="1593725"/>
            </a:xfrm>
            <a:custGeom>
              <a:avLst/>
              <a:gdLst/>
              <a:ahLst/>
              <a:cxnLst/>
              <a:rect r="r" b="b" t="t" l="l"/>
              <a:pathLst>
                <a:path h="1593725" w="1615861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18096" y="954057"/>
            <a:ext cx="7447749" cy="5958078"/>
            <a:chOff x="0" y="0"/>
            <a:chExt cx="9930332" cy="794410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90500"/>
              <a:ext cx="7375881" cy="1790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47"/>
                </a:lnSpc>
              </a:pPr>
              <a:r>
                <a:rPr lang="en-US" sz="9747" spc="-194">
                  <a:solidFill>
                    <a:srgbClr val="D9E8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Conclusion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41832" y="3524525"/>
              <a:ext cx="9588500" cy="44195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26112" indent="-263056" lvl="1">
                <a:lnSpc>
                  <a:spcPts val="2924"/>
                </a:lnSpc>
                <a:buFont typeface="Arial"/>
                <a:buChar char="•"/>
              </a:pPr>
              <a:r>
                <a:rPr lang="en-US" sz="2436">
                  <a:solidFill>
                    <a:srgbClr val="D9E8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Efficiency: The Binomial method is faster for polynomials than the Method of Undetermined Coefficients.</a:t>
              </a:r>
            </a:p>
            <a:p>
              <a:pPr algn="l" marL="526112" indent="-263056" lvl="1">
                <a:lnSpc>
                  <a:spcPts val="2924"/>
                </a:lnSpc>
                <a:buFont typeface="Arial"/>
                <a:buChar char="•"/>
              </a:pPr>
              <a:r>
                <a:rPr lang="en-US" sz="2436">
                  <a:solidFill>
                    <a:srgbClr val="D9E8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Accuracy: It provides a systematic "plug-and-play" formula.</a:t>
              </a:r>
            </a:p>
            <a:p>
              <a:pPr algn="l" marL="526112" indent="-263056" lvl="1">
                <a:lnSpc>
                  <a:spcPts val="2924"/>
                </a:lnSpc>
                <a:buFont typeface="Arial"/>
                <a:buChar char="•"/>
              </a:pPr>
              <a:r>
                <a:rPr lang="en-US" sz="2436">
                  <a:solidFill>
                    <a:srgbClr val="D9E8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Engineering Context: This method is vital for finding the steady-state error in control systems when subjected to ramp or step inputs.</a:t>
              </a:r>
            </a:p>
            <a:p>
              <a:pPr algn="l" marL="0" indent="0" lvl="0">
                <a:lnSpc>
                  <a:spcPts val="2924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0" y="676275"/>
            <a:ext cx="7858125" cy="0"/>
          </a:xfrm>
          <a:prstGeom prst="line">
            <a:avLst/>
          </a:prstGeom>
          <a:ln cap="flat" w="19050">
            <a:solidFill>
              <a:srgbClr val="D9E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0" y="9629775"/>
            <a:ext cx="7858125" cy="0"/>
          </a:xfrm>
          <a:prstGeom prst="line">
            <a:avLst/>
          </a:prstGeom>
          <a:ln cap="flat" w="19050">
            <a:solidFill>
              <a:srgbClr val="D9E8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System Response</dc:description>
  <dc:identifier>DAHCQObB8J8</dc:identifier>
  <dcterms:modified xsi:type="dcterms:W3CDTF">2011-08-01T06:04:30Z</dcterms:modified>
  <cp:revision>1</cp:revision>
  <dc:title>Presentation - System Response</dc:title>
</cp:coreProperties>
</file>